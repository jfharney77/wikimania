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834640"/>
          </a:xfrm>
          <a:prstGeom prst="rect">
            <a:avLst/>
          </a:prstGeom>
          <a:solidFill>
            <a:srgbClr val="07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00C2A8"/>
                </a:solidFill>
              </a:rPr>
              <a:t>wikimania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Turn uploaded documents into a linked, queryable wiki.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60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AACC"/>
                </a:solidFill>
              </a:rPr>
              <a:t>Upload  →  Extract  →  Graph  →  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AACC"/>
                </a:solidFill>
              </a:rPr>
              <a:t>FastAPI + React (Vite)  ·  Groq LLMs  ·  graphify  ·  PostgreSQL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D1B2A"/>
                </a:solidFill>
              </a:rPr>
              <a:t>What is wikimania?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900">
                <a:solidFill>
                  <a:srgbClr val="CCE5FF"/>
                </a:solidFill>
              </a:rPr>
              <a:t>•  Upload any Markdown document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CCE5FF"/>
                </a:solidFill>
              </a:rPr>
              <a:t>•  Automatically generates a wiki of interlinked articles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CCE5FF"/>
                </a:solidFill>
              </a:rPr>
              <a:t>•  Browse articles with clickable [[wikilinks]]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CCE5FF"/>
                </a:solidFill>
              </a:rPr>
              <a:t>•  Explore the knowledge graph visually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CCE5FF"/>
                </a:solidFill>
              </a:rPr>
              <a:t>•  Ask natural-language questions — get LLM-synthesised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0" y="1645920"/>
            <a:ext cx="4114800" cy="3657600"/>
          </a:xfrm>
          <a:prstGeom prst="rect">
            <a:avLst/>
          </a:prstGeom>
          <a:solidFill>
            <a:srgbClr val="072238"/>
          </a:solidFill>
          <a:ln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7373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2A8"/>
                </a:solidFill>
              </a:rPr>
              <a:t>Four tabs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21945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[1]  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85292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[2]  Wiki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3511296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[3]  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416966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[4]  Query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D1B2A"/>
                </a:solidFill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5394960" cy="3840480"/>
          </a:xfrm>
          <a:prstGeom prst="rect">
            <a:avLst/>
          </a:prstGeom>
          <a:solidFill>
            <a:srgbClr val="072238"/>
          </a:solidFill>
          <a:ln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C2A8"/>
                </a:solidFill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E5FF"/>
                </a:solidFill>
              </a:rPr>
              <a:t>React 18 + Vite (SPA)
four-tab UI
Vite dev-server proxies /api/*
→ no CORS friction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508760"/>
            <a:ext cx="5394960" cy="3840480"/>
          </a:xfrm>
          <a:prstGeom prst="rect">
            <a:avLst/>
          </a:prstGeom>
          <a:solidFill>
            <a:srgbClr val="072238"/>
          </a:solidFill>
          <a:ln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C2A8"/>
                </a:solidFill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4884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E5FF"/>
                </a:solidFill>
              </a:rPr>
              <a:t>FastAPI (Python)
main.py  —  all API endpoints
pipeline.py  —  wiki generation
PostgreSQL  —  durable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329184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C2A8"/>
                </a:solidFill>
              </a:rPr>
              <a:t>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D1B2A"/>
                </a:solidFill>
              </a:rPr>
              <a:t>Async Generation via SSE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CCE5FF"/>
                </a:solidFill>
              </a:rPr>
              <a:t>•  POST /api/documents/upload → returns job_id immediately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CCE5FF"/>
                </a:solidFill>
              </a:rPr>
              <a:t>•  Background worker runs pipeline.py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CCE5FF"/>
                </a:solidFill>
              </a:rPr>
              <a:t>•  Frontend streams progress via Server-Sent Events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CCE5FF"/>
                </a:solidFill>
              </a:rPr>
              <a:t>•  Events survive restarts — stored in job_events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566160"/>
            <a:ext cx="5303520" cy="2560320"/>
          </a:xfrm>
          <a:prstGeom prst="rect">
            <a:avLst/>
          </a:prstGeom>
          <a:solidFill>
            <a:srgbClr val="16283A"/>
          </a:solidFill>
          <a:ln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657600"/>
            <a:ext cx="50292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0C2A8"/>
                </a:solidFill>
                <a:latin typeface="Courier New"/>
              </a:rPr>
              <a:t>SSE event types:
  phase       — pipeline phase started
  concepts    — extracted concept list
  article     — article written/updated
  graph_done  — graphify rebuild done
  done        — job finished
  error       — job failed
  heartbeat   — keep-alive (25 s)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645920"/>
            <a:ext cx="4389120" cy="731520"/>
          </a:xfrm>
          <a:prstGeom prst="rect">
            <a:avLst/>
          </a:prstGeom>
          <a:solidFill>
            <a:srgbClr val="072238"/>
          </a:solidFill>
          <a:ln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700784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Upload 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377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C2A8"/>
                </a:solidFill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2743200"/>
            <a:ext cx="4389120" cy="731520"/>
          </a:xfrm>
          <a:prstGeom prst="rect">
            <a:avLst/>
          </a:prstGeom>
          <a:solidFill>
            <a:srgbClr val="072238"/>
          </a:solidFill>
          <a:ln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2798064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job_id 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474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C2A8"/>
                </a:solidFill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3840480"/>
            <a:ext cx="4389120" cy="731520"/>
          </a:xfrm>
          <a:prstGeom prst="rect">
            <a:avLst/>
          </a:prstGeom>
          <a:solidFill>
            <a:srgbClr val="072238"/>
          </a:solidFill>
          <a:ln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3895344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SSE stream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4572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C2A8"/>
                </a:solidFill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4937759"/>
            <a:ext cx="4389120" cy="731520"/>
          </a:xfrm>
          <a:prstGeom prst="rect">
            <a:avLst/>
          </a:prstGeom>
          <a:solidFill>
            <a:srgbClr val="072238"/>
          </a:solidFill>
          <a:ln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4992624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Progress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D1B2A"/>
                </a:solidFill>
              </a:rPr>
              <a:t>Two LLM Tiers (via Groq)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5394960" cy="4114800"/>
          </a:xfrm>
          <a:prstGeom prst="rect">
            <a:avLst/>
          </a:prstGeom>
          <a:solidFill>
            <a:srgbClr val="072238"/>
          </a:solidFill>
          <a:ln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C2A8"/>
                </a:solidFill>
              </a:rPr>
              <a:t>MODEL_FAST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llama-3.1-8b-instant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E5FF"/>
                </a:solidFill>
              </a:rPr>
              <a:t>Concept extraction
Quick pass over each chunk
Low latency, high throughput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508760"/>
            <a:ext cx="5394960" cy="4114800"/>
          </a:xfrm>
          <a:prstGeom prst="rect">
            <a:avLst/>
          </a:prstGeom>
          <a:solidFill>
            <a:srgbClr val="072238"/>
          </a:solidFill>
          <a:ln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C2A8"/>
                </a:solidFill>
              </a:rPr>
              <a:t>MODEL_REASONING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qwen/qwen3-32b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788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E5FF"/>
                </a:solidFill>
              </a:rPr>
              <a:t>Article writing
Query answering
Deeper reasoning capability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15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AACC"/>
                </a:solidFill>
              </a:rPr>
              <a:t>Both tiers configurable via .env — swap Groq for Ollama with PROVIDER=ollama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D1B2A"/>
                </a:solidFill>
              </a:rPr>
              <a:t>Knowledge Graph — graphify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900">
                <a:solidFill>
                  <a:srgbClr val="CCE5FF"/>
                </a:solidFill>
              </a:rPr>
              <a:t>•  graphify used as a Python library (not subprocess)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CCE5FF"/>
                </a:solidFill>
              </a:rPr>
              <a:t>•  build()  →  cluster()  →  export()  called in pipeline.py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CCE5FF"/>
                </a:solidFill>
              </a:rPr>
              <a:t>•  Graph JSON stored in graph_snapshots (Postgres)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CCE5FF"/>
                </a:solidFill>
              </a:rPr>
              <a:t>•  Frontend fetches GET /api/wiki/graph and renders interactively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CCE5FF"/>
                </a:solidFill>
              </a:rPr>
              <a:t>•  Rebuilt automatically after every document upload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572000"/>
            <a:ext cx="6675120" cy="1600200"/>
          </a:xfrm>
          <a:prstGeom prst="rect">
            <a:avLst/>
          </a:prstGeom>
          <a:solidFill>
            <a:srgbClr val="16283A"/>
          </a:solidFill>
          <a:ln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663440"/>
            <a:ext cx="64008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0C2A8"/>
                </a:solidFill>
                <a:latin typeface="Courier New"/>
              </a:rPr>
              <a:t>from graphify import build, cluster, export
graph = build(articles)
graph = cluster(graph)
json_out = export(graph)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645920"/>
            <a:ext cx="4114800" cy="3474720"/>
          </a:xfrm>
          <a:prstGeom prst="rect">
            <a:avLst/>
          </a:prstGeom>
          <a:solidFill>
            <a:srgbClr val="072238"/>
          </a:solidFill>
          <a:ln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7373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A8"/>
                </a:solidFill>
              </a:rPr>
              <a:t>graph_snapshots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194560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E5FF"/>
                </a:solidFill>
              </a:rPr>
              <a:t>id
created_at
document_id
graph_json  (JSONB)
nodes / edges count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D1B2A"/>
                </a:solidFill>
              </a:rPr>
              <a:t>Obsidian-Compatible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6858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900">
                <a:solidFill>
                  <a:srgbClr val="CCE5FF"/>
                </a:solidFill>
              </a:rPr>
              <a:t>•  Articles stored as Markdown with [[wikilink]] syntax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CCE5FF"/>
                </a:solidFill>
              </a:rPr>
              <a:t>•  article_links table tracks parsed wikilink edges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CCE5FF"/>
                </a:solidFill>
              </a:rPr>
              <a:t>•  GET /api/wiki/export zips all articles as an Obsidian vault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CCE5FF"/>
                </a:solidFill>
              </a:rPr>
              <a:t>•  Open the .zip in Obsidian → full graph view immediately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CCE5FF"/>
                </a:solidFill>
              </a:rPr>
              <a:t>•  No vendor lock-in: plain .md 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434840"/>
            <a:ext cx="6675120" cy="1691640"/>
          </a:xfrm>
          <a:prstGeom prst="rect">
            <a:avLst/>
          </a:prstGeom>
          <a:solidFill>
            <a:srgbClr val="16283A"/>
          </a:solidFill>
          <a:ln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526280"/>
            <a:ext cx="640080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0C2A8"/>
                </a:solidFill>
                <a:latin typeface="Courier New"/>
              </a:rPr>
              <a:t>## Quantum Entanglement
Entanglement is described in [[Bell's theorem]].
See also [[EPR paradox]] and [[Superposition]].
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645920"/>
            <a:ext cx="4114800" cy="3200400"/>
          </a:xfrm>
          <a:prstGeom prst="rect">
            <a:avLst/>
          </a:prstGeom>
          <a:solidFill>
            <a:srgbClr val="072238"/>
          </a:solidFill>
          <a:ln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7373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A8"/>
                </a:solidFill>
              </a:rPr>
              <a:t>article_links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24028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E5FF"/>
                </a:solidFill>
              </a:rPr>
              <a:t>from_article_id  (FK)
to_title  (text)
→ Used to build the
   knowledge graph edges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D1B2A"/>
                </a:solidFill>
              </a:rPr>
              <a:t>Query — No Embeddings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6400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900">
                <a:solidFill>
                  <a:srgbClr val="CCE5FF"/>
                </a:solidFill>
              </a:rPr>
              <a:t>•  No vector store, no embeddings infrastructure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CCE5FF"/>
                </a:solidFill>
              </a:rPr>
              <a:t>•  Postgres ILIKE search finds relevant articles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CCE5FF"/>
                </a:solidFill>
              </a:rPr>
              <a:t>•  Matched articles passed as context to MODEL_REASONING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CCE5FF"/>
                </a:solidFill>
              </a:rPr>
              <a:t>•  LLM synthesises a cited, grounded answer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CCE5FF"/>
                </a:solidFill>
              </a:rPr>
              <a:t>•  POST /api/wiki/query  →  {answer, sources}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434840"/>
            <a:ext cx="6675120" cy="1691640"/>
          </a:xfrm>
          <a:prstGeom prst="rect">
            <a:avLst/>
          </a:prstGeom>
          <a:solidFill>
            <a:srgbClr val="16283A"/>
          </a:solidFill>
          <a:ln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526280"/>
            <a:ext cx="640080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0C2A8"/>
                </a:solidFill>
                <a:latin typeface="Courier New"/>
              </a:rPr>
              <a:t>SELECT * FROM wiki_articles
WHERE content ILIKE '%{term}%'
LIMIT 10;
→ feed to MODEL_REASONING → answer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645920"/>
            <a:ext cx="4297680" cy="4114800"/>
          </a:xfrm>
          <a:prstGeom prst="rect">
            <a:avLst/>
          </a:prstGeom>
          <a:solidFill>
            <a:srgbClr val="072238"/>
          </a:solidFill>
          <a:ln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17373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2A8"/>
                </a:solidFill>
              </a:rPr>
              <a:t>Why this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240280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E5FF"/>
                </a:solidFill>
              </a:rPr>
              <a:t>Docs are already chunked
into focused articles.
Each article ≈ one concept
→ ILIKE precision is high
→ context window stays small
→ answer quality stays high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D1B2A"/>
                </a:solidFill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6675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CCE5FF"/>
                </a:solidFill>
              </a:rPr>
              <a:t>•  Full deployment guide in AWS_DEPLOYMENT.md / DEPLOYMENT.md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CCE5FF"/>
                </a:solidFill>
              </a:rPr>
              <a:t>•  Backend: FastAPI on ECS Fargate (or any Python host)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CCE5FF"/>
                </a:solidFill>
              </a:rPr>
              <a:t>•  Frontend: Vite build → S3 + CloudFront (or Railway/Vercel)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CCE5FF"/>
                </a:solidFill>
              </a:rPr>
              <a:t>•  Database: RDS PostgreSQL (or any Postgres)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CCE5FF"/>
                </a:solidFill>
              </a:rPr>
              <a:t>•  Secrets via environment variables (.env or AWS Secrets Manager)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160520"/>
            <a:ext cx="6675120" cy="1965960"/>
          </a:xfrm>
          <a:prstGeom prst="rect">
            <a:avLst/>
          </a:prstGeom>
          <a:solidFill>
            <a:srgbClr val="16283A"/>
          </a:solidFill>
          <a:ln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251960"/>
            <a:ext cx="6400800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0C2A8"/>
                </a:solidFill>
                <a:latin typeface="Courier New"/>
              </a:rPr>
              <a:t># .env (backend)
GROQ_API_KEY=gsk_...
DATABASE_URL=postgresql://...
PROVIDER=groq
MODEL_FAST=llama-3.1-8b-instant
MODEL_REASONING=qwen/qwen3-32b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645920"/>
            <a:ext cx="4297680" cy="4297680"/>
          </a:xfrm>
          <a:prstGeom prst="rect">
            <a:avLst/>
          </a:prstGeom>
          <a:solidFill>
            <a:srgbClr val="072238"/>
          </a:solidFill>
          <a:ln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17373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2A8"/>
                </a:solidFill>
              </a:rPr>
              <a:t>Local 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240280"/>
            <a:ext cx="4023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E5FF"/>
                </a:solidFill>
              </a:rPr>
              <a:t>cd backend
python3 -m venv .venv
.venv/bin/pip install -r requirements.txt
.venv/bin/uvicorn main:app --reload
cd frontend
npm install &amp;&amp; npm run dev
Open http://localhost:5173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D1B2A"/>
                </a:solidFill>
              </a:rPr>
              <a:t>Demo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900">
                <a:solidFill>
                  <a:srgbClr val="CCE5FF"/>
                </a:solidFill>
              </a:rPr>
              <a:t>•  Upload a sample Markdown document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CCE5FF"/>
                </a:solidFill>
              </a:rPr>
              <a:t>•  Watch SSE progress stream fill in articles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CCE5FF"/>
                </a:solidFill>
              </a:rPr>
              <a:t>•  Browse the wiki — click [[wikilinks]] to navigate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CCE5FF"/>
                </a:solidFill>
              </a:rPr>
              <a:t>•  Open the Graph tab — explore the knowledge cluster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CCE5FF"/>
                </a:solidFill>
              </a:rPr>
              <a:t>•  Ask a question in the Query tab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CCE5FF"/>
                </a:solidFill>
              </a:rPr>
              <a:t>•  Export → open vault in Obsidian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79" y="1645920"/>
            <a:ext cx="4297680" cy="3657600"/>
          </a:xfrm>
          <a:prstGeom prst="rect">
            <a:avLst/>
          </a:prstGeom>
          <a:solidFill>
            <a:srgbClr val="072238"/>
          </a:solidFill>
          <a:ln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17373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C2A8"/>
                </a:solidFill>
              </a:rPr>
              <a:t>What's next?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2240280"/>
            <a:ext cx="4023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CCE5FF"/>
                </a:solidFill>
              </a:rPr>
              <a:t>•  Embeddings + semantic search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CE5FF"/>
                </a:solidFill>
              </a:rPr>
              <a:t>•  Multi-document cross-linking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CE5FF"/>
                </a:solidFill>
              </a:rPr>
              <a:t>•  Incremental graph updates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CE5FF"/>
                </a:solidFill>
              </a:rPr>
              <a:t>•  Collaboration / shared wikis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CE5FF"/>
                </a:solidFill>
              </a:rPr>
              <a:t>•  slides2video narration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AACC"/>
                </a:solidFill>
              </a:rPr>
              <a:t>github.com/your-org/wikimania  ·  jfharney@gmail.com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